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56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42" y="97104"/>
            <a:ext cx="4134357" cy="3331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4492488"/>
            <a:ext cx="3349751" cy="14113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73880" y="0"/>
            <a:ext cx="78181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6644" y="6338703"/>
            <a:ext cx="219669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383669" y="6338703"/>
            <a:ext cx="1392578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776247" y="6342301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6168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1709862"/>
            <a:ext cx="10963656" cy="45137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795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888410" cy="284556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88841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7424272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343955"/>
            <a:ext cx="210048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67853" y="6343955"/>
            <a:ext cx="147516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6066" y="6343955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18550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1143000"/>
            <a:ext cx="8683753" cy="309514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498848"/>
            <a:ext cx="6881457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6343955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6343955"/>
            <a:ext cx="2875064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5958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AC53C90-8C33-0C80-CBD4-B3BEE604E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58" y="1869103"/>
            <a:ext cx="9337042" cy="4906929"/>
          </a:xfrm>
        </p:spPr>
        <p:txBody>
          <a:bodyPr>
            <a:normAutofit/>
          </a:bodyPr>
          <a:lstStyle>
            <a:lvl1pPr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137388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93929" y="137388"/>
            <a:ext cx="2202644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137388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2162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111" y="105196"/>
            <a:ext cx="9023561" cy="2113392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/>
            </a:lvl1pPr>
            <a:lvl2pPr marL="685800" indent="-457200">
              <a:buFont typeface="+mj-lt"/>
              <a:buAutoNum type="arabicPeriod"/>
              <a:defRPr sz="16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874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1011" y="73742"/>
            <a:ext cx="6863496" cy="2220726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" y="0"/>
            <a:ext cx="4565591" cy="6858000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88000" y="2726267"/>
            <a:ext cx="5916507" cy="343678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588000" y="6343955"/>
            <a:ext cx="29854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713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56011" y="1389134"/>
            <a:ext cx="604539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261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707549"/>
            <a:ext cx="3349754" cy="272145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48200" y="708184"/>
            <a:ext cx="6928103" cy="55148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81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6011" y="612648"/>
            <a:ext cx="6426389" cy="1143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57368" y="1978488"/>
            <a:ext cx="6418935" cy="4285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010" y="6343955"/>
            <a:ext cx="3364903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030713" y="6343955"/>
            <a:ext cx="2060808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30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8" y="474177"/>
            <a:ext cx="6950232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1627632"/>
            <a:ext cx="6950232" cy="4686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8" y="6343955"/>
            <a:ext cx="3422906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6073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475488"/>
            <a:ext cx="6858000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627632"/>
            <a:ext cx="6858000" cy="4535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271089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20623"/>
            <a:ext cx="4494189" cy="13258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1975104"/>
            <a:ext cx="4494063" cy="41569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776" y="6343955"/>
            <a:ext cx="2098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13651" y="6343955"/>
            <a:ext cx="1573037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96658" y="6343955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340931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429768"/>
            <a:ext cx="3657600" cy="166722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3" y="2315569"/>
            <a:ext cx="3657600" cy="381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7" y="6343955"/>
            <a:ext cx="1637337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703447" y="6343955"/>
            <a:ext cx="949766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53213" y="6343955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95088" y="0"/>
            <a:ext cx="729691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05008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929554"/>
            <a:ext cx="2699254" cy="1858941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343955"/>
            <a:ext cx="140446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8710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162318"/>
            <a:ext cx="3044954" cy="18928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5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4162318"/>
            <a:ext cx="7460029" cy="20915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711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59341"/>
            <a:ext cx="10969753" cy="93268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12398"/>
            <a:ext cx="4637269" cy="42076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C8422D5-19BC-1CA0-FD0B-D86260BAA32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737221" y="1912938"/>
            <a:ext cx="5741992" cy="422433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9544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706802"/>
            <a:ext cx="4672584" cy="126948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0468" y="2173850"/>
            <a:ext cx="4564763" cy="396368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05563" y="732155"/>
            <a:ext cx="5676838" cy="54053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109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893733"/>
            <a:ext cx="9762068" cy="1059806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sz="2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484094"/>
            <a:ext cx="10543032" cy="4536141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9104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264" y="42335"/>
            <a:ext cx="11517039" cy="61722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8000" b="1"/>
            </a:lvl1pPr>
            <a:lvl2pPr marL="228600" indent="0">
              <a:lnSpc>
                <a:spcPct val="90000"/>
              </a:lnSpc>
              <a:buNone/>
              <a:defRPr sz="7200" b="1"/>
            </a:lvl2pPr>
            <a:lvl3pPr marL="457200" indent="0">
              <a:lnSpc>
                <a:spcPct val="90000"/>
              </a:lnSpc>
              <a:buNone/>
              <a:defRPr sz="66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54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8850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99616" y="5029200"/>
            <a:ext cx="9198864" cy="640080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accent1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188720"/>
            <a:ext cx="9198864" cy="33324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36837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741152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2775" y="1825625"/>
            <a:ext cx="507492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8563" y="1825625"/>
            <a:ext cx="5075237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1489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12064"/>
            <a:ext cx="10745788" cy="96926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387600"/>
            <a:ext cx="5075238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0468" y="1685735"/>
            <a:ext cx="507492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387600"/>
            <a:ext cx="5075556" cy="37861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55552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2064"/>
            <a:ext cx="10963656" cy="96926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70727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42191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" y="89808"/>
            <a:ext cx="11462003" cy="2514600"/>
          </a:xfrm>
        </p:spPr>
        <p:txBody>
          <a:bodyPr anchor="t"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118757"/>
            <a:ext cx="10963528" cy="2620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2701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228600" indent="0">
              <a:buNone/>
              <a:defRPr sz="16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4607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14649"/>
            <a:ext cx="10963655" cy="97237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09862"/>
            <a:ext cx="10963656" cy="45137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2647" y="6343955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893929" y="6343955"/>
            <a:ext cx="220264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9D9C4CD8-B457-4E1D-B46E-8DDFB1E49B9B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343955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CB5E620-2533-4343-9F59-594A442416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588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  <p:sldLayoutId id="2147483798" r:id="rId18"/>
    <p:sldLayoutId id="2147483799" r:id="rId19"/>
    <p:sldLayoutId id="2147483800" r:id="rId20"/>
    <p:sldLayoutId id="2147483801" r:id="rId21"/>
    <p:sldLayoutId id="2147483802" r:id="rId22"/>
    <p:sldLayoutId id="2147483803" r:id="rId23"/>
    <p:sldLayoutId id="2147483804" r:id="rId24"/>
    <p:sldLayoutId id="2147483805" r:id="rId25"/>
    <p:sldLayoutId id="2147483806" r:id="rId26"/>
    <p:sldLayoutId id="2147483807" r:id="rId27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800" b="1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2160">
          <p15:clr>
            <a:srgbClr val="F26B43"/>
          </p15:clr>
        </p15:guide>
        <p15:guide id="8" pos="3840">
          <p15:clr>
            <a:srgbClr val="F26B43"/>
          </p15:clr>
        </p15:guide>
        <p15:guide id="9" pos="7296">
          <p15:clr>
            <a:srgbClr val="F26B43"/>
          </p15:clr>
        </p15:guide>
        <p15:guide id="10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4C5750-5FF3-A715-2FAC-EC3498A1F180}"/>
              </a:ext>
            </a:extLst>
          </p:cNvPr>
          <p:cNvSpPr txBox="1"/>
          <p:nvPr/>
        </p:nvSpPr>
        <p:spPr>
          <a:xfrm>
            <a:off x="1355835" y="2014351"/>
            <a:ext cx="866869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6000" b="1" i="0" dirty="0">
                <a:solidFill>
                  <a:srgbClr val="FF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SaaS Churn &amp; Revenue Analytics Platform</a:t>
            </a:r>
            <a:endParaRPr lang="en-IN" sz="6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883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549E65-616E-0C35-ADAD-B412270F5766}"/>
              </a:ext>
            </a:extLst>
          </p:cNvPr>
          <p:cNvSpPr txBox="1"/>
          <p:nvPr/>
        </p:nvSpPr>
        <p:spPr>
          <a:xfrm>
            <a:off x="1024759" y="743461"/>
            <a:ext cx="961696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leadership findings:</a:t>
            </a:r>
          </a:p>
          <a:p>
            <a:pPr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Finding 1 — Revenue base: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The customer base generates 267,123.96 in MRR, with an average revenue per account of 636.01.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Finding 2 — Churn: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Churn is 25.95%, meaning 109 of 420 customers are currently classified as churned based on their latest subscription status.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Finding 3 — Customer tenure: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Average customer tenure is 2.69 years, showing that the current customer base has a multi-year relationship with the business.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Finding 4 — Revenue concentration / risk:</a:t>
            </a:r>
          </a:p>
          <a:p>
            <a:pPr>
              <a:buNone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For this one, use the actual output from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Module 9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The highest-risk customer group contains [HIGH-RISK MRR] of MRR, representing [HIGH-RISK MRR %] of total MRR.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8032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1EE9E9E-BB98-FD4A-C5C7-559F60B35891}"/>
              </a:ext>
            </a:extLst>
          </p:cNvPr>
          <p:cNvSpPr txBox="1"/>
          <p:nvPr/>
        </p:nvSpPr>
        <p:spPr>
          <a:xfrm>
            <a:off x="252247" y="153357"/>
            <a:ext cx="1010569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FF00"/>
                </a:highlight>
              </a:rPr>
              <a:t> </a:t>
            </a:r>
            <a:r>
              <a:rPr lang="en-IN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Prioritised recommendation:</a:t>
            </a: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Priority 1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 — Protect high-risk recurring revenue</a:t>
            </a:r>
          </a:p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Prioritise customers in the highest-risk group for immediate retention action, focusing first on accounts with both elevated churn signals and meaningful MRR.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Then use your Module 9 result: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Revenue currently exposed in the highest-risk group: [HIGH-RISK MRR].</a:t>
            </a:r>
          </a:p>
          <a:p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sz="2000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Priority 2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— Address low engagement by increasing product usage and customer support follow-up for accounts showing low login activity or high support burden.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03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81BA1-75AF-C327-DD2C-A6F11E8F1947}"/>
              </a:ext>
            </a:extLst>
          </p:cNvPr>
          <p:cNvSpPr txBox="1"/>
          <p:nvPr/>
        </p:nvSpPr>
        <p:spPr>
          <a:xfrm>
            <a:off x="145830" y="172513"/>
            <a:ext cx="11867493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SAAS CHURN &amp; REVENUE — EXECUTIVE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Key numbers: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Total MRR: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267,123.96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Churn Rate: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25.95%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Average Revenue per Account: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636.01</a:t>
            </a:r>
            <a:b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Average Tenure: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2.69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What the data says: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Revenue: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The customer base generates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267,123.96 MRR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with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636.01 average revenue per account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Churn: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25.95%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of customers are currently churned, equal to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109 of 420 customers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based on their latest subscription status.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Tenure: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Average customer tenure is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2.69 years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, indicating that the customer base includes established customer relationships.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Revenue exposure: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The highest-risk customer group represents </a:t>
            </a: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[actual High-Risk MRR]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of monthly recurring revenue.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759076-F8B4-240A-F14E-830BF4ABFF7E}"/>
              </a:ext>
            </a:extLst>
          </p:cNvPr>
          <p:cNvSpPr txBox="1"/>
          <p:nvPr/>
        </p:nvSpPr>
        <p:spPr>
          <a:xfrm>
            <a:off x="145830" y="4142831"/>
            <a:ext cx="997563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Prioritised recommendation: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Priority 1: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Immediately focus retention activity on the highest-risk customers, especially accounts carrying substantial MRR.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Priority 2: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Increase engagement and resolve recurring support issues among customers showing low usage or high support activity.</a:t>
            </a:r>
          </a:p>
          <a:p>
            <a:pPr>
              <a:buNone/>
            </a:pPr>
            <a:endParaRPr lang="en-IN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n-IN" b="1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Revenue at stake:</a:t>
            </a:r>
          </a:p>
          <a:p>
            <a:pPr>
              <a:buNone/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[actual High-Risk MRR] MRR is currently exposed in the highest-risk group.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686173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" id="{83B93026-B8A4-4FE9-8E48-8009734911E7}" vid="{E43B60F7-EC4F-4A08-AFF5-BDC94162E53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Helena</Template>
  <TotalTime>27</TotalTime>
  <Words>379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Neue Haas Grotesk Text Pro</vt:lpstr>
      <vt:lpstr>Helena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Vishwanathagouda Patil</dc:creator>
  <cp:lastModifiedBy>Vishwanathagouda Patil</cp:lastModifiedBy>
  <cp:revision>1</cp:revision>
  <dcterms:created xsi:type="dcterms:W3CDTF">2026-09-24T10:50:31Z</dcterms:created>
  <dcterms:modified xsi:type="dcterms:W3CDTF">2026-09-24T11:18:25Z</dcterms:modified>
</cp:coreProperties>
</file>